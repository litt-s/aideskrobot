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33272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微软雅黑"/>
              </a:rPr>
              <a:t>AIDesk 办公陪伴机器人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33272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B13A"/>
                </a:solidFill>
                <a:latin typeface="微软雅黑"/>
              </a:rPr>
              <a:t>基于 ESP32 的机器人与多端控制台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B13A"/>
                </a:solidFill>
                <a:latin typeface="微软雅黑"/>
              </a:rPr>
              <a:t>的设计与实现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3327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AA6B8"/>
                </a:solidFill>
                <a:latin typeface="微软雅黑"/>
              </a:rPr>
              <a:t>毕 业 设 计 开 题 答 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4343400"/>
            <a:ext cx="5486400" cy="14813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微软雅黑"/>
              </a:rPr>
              <a:t/>
            </a:r>
            <a:r>
              <a:rPr sz="1350">
                <a:solidFill>
                  <a:srgbClr val="FFFFFF"/>
                </a:solidFill>
                <a:latin typeface="微软雅黑"/>
              </a:rPr>
              <a:t>专　　业　：　待填写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微软雅黑"/>
              </a:rPr>
              <a:t/>
            </a:r>
            <a:r>
              <a:rPr sz="1350">
                <a:solidFill>
                  <a:srgbClr val="FFFFFF"/>
                </a:solidFill>
                <a:latin typeface="微软雅黑"/>
              </a:rPr>
              <a:t>班　　级　：　待填写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微软雅黑"/>
              </a:rPr>
              <a:t/>
            </a:r>
            <a:r>
              <a:rPr sz="1350">
                <a:solidFill>
                  <a:srgbClr val="FFFFFF"/>
                </a:solidFill>
                <a:latin typeface="微软雅黑"/>
              </a:rPr>
              <a:t>姓　　名　：　待填写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微软雅黑"/>
              </a:rPr>
              <a:t/>
            </a:r>
            <a:r>
              <a:rPr sz="1350">
                <a:solidFill>
                  <a:srgbClr val="FFFFFF"/>
                </a:solidFill>
                <a:latin typeface="微软雅黑"/>
              </a:rPr>
              <a:t>学　　号　：　待填写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微软雅黑"/>
              </a:rPr>
              <a:t/>
            </a:r>
            <a:r>
              <a:rPr sz="1350">
                <a:solidFill>
                  <a:srgbClr val="FFFFFF"/>
                </a:solidFill>
                <a:latin typeface="微软雅黑"/>
              </a:rPr>
              <a:t>指导教师　：　待填写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微软雅黑"/>
              </a:rPr>
              <a:t/>
            </a:r>
            <a:r>
              <a:rPr sz="1350">
                <a:solidFill>
                  <a:srgbClr val="FFFFFF"/>
                </a:solidFill>
                <a:latin typeface="微软雅黑"/>
              </a:rPr>
              <a:t>学　　院　：　待填写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5870448"/>
            <a:ext cx="5486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8"/>
                </a:solidFill>
                <a:latin typeface="微软雅黑"/>
              </a:rPr>
              <a:t>答辩日期：待填写　　课题来源：项目实践（类别待填写）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332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B13A"/>
                </a:solidFill>
                <a:latin typeface="微软雅黑"/>
              </a:rPr>
              <a:t>关键词：流式会话　设备通道　语音交互　多端接入　安全托管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B13A"/>
                </a:solidFill>
                <a:latin typeface="微软雅黑"/>
              </a:rPr>
              <a:t>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9875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选题背景与意义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4E8C"/>
                </a:solidFill>
                <a:latin typeface="微软雅黑"/>
              </a:rPr>
              <a:t>研究背景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212080" cy="21762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模型配置、设备状态与会话分散，使用者需要统一入口。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机器人需要安全绑定、状态上报和可追踪的指令回报。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流式回复遇到暂停、刷新和弱网时，需要保持已有内容。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多端访问应共享业务接口，供应商凭据由服务端托管。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4E8C"/>
                </a:solidFill>
                <a:latin typeface="微软雅黑"/>
              </a:rPr>
              <a:t>相关技术与工程现状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72768"/>
            <a:ext cx="5212080" cy="21762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React 和 Hono 支持组件化界面与统一 API 业务。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ESP-IDF 支持设备网络、音频、任务与外设控制。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本项目已有模型、角色、会话、设备和语音工程基础。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会议真实链路与部分跨端真机仍需验收。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4E8C"/>
                </a:solidFill>
                <a:latin typeface="微软雅黑"/>
              </a:rPr>
              <a:t>研究意义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61687"/>
            <a:ext cx="10607040" cy="19019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统一管理账户、模型、角色、会话和设备。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用持久状态与指令回执提高异常恢复和排查能力。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云端托管供应商凭据，按用户与设备分别鉴权。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通过真实测试与设备日志检验工程，而非仅展示页面。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8251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6B8"/>
                </a:solidFill>
                <a:latin typeface="微软雅黑"/>
              </a:rPr>
              <a:t>AIDesk  ·  毕业设计开题答辩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B13A"/>
                </a:solidFill>
                <a:latin typeface="微软雅黑"/>
              </a:rPr>
              <a:t>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9875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系统核心功能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6070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B13A"/>
                </a:solidFill>
                <a:latin typeface="微软雅黑"/>
              </a:rPr>
              <a:t>3 类参与者（访客、用户、设备）　8 个工程模块　多端统一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5623560" cy="65836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73152" cy="65836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17904"/>
            <a:ext cx="53492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E8C"/>
                </a:solidFill>
                <a:latin typeface="微软雅黑"/>
              </a:rPr>
              <a:t>模型与角色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4C58"/>
                </a:solidFill>
                <a:latin typeface="微软雅黑"/>
              </a:rPr>
              <a:t>配置模型、加密凭据和角色提示词，关联用户自己的模型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31136"/>
            <a:ext cx="5623560" cy="65836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31136"/>
            <a:ext cx="73152" cy="65836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67712"/>
            <a:ext cx="53492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E8C"/>
                </a:solidFill>
                <a:latin typeface="微软雅黑"/>
              </a:rPr>
              <a:t>可靠流式会话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4C58"/>
                </a:solidFill>
                <a:latin typeface="微软雅黑"/>
              </a:rPr>
              <a:t>暂停续写、撤销和重新生成，状态与片段持久化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5623560" cy="65836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73152" cy="65836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017520"/>
            <a:ext cx="53492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E8C"/>
                </a:solidFill>
                <a:latin typeface="微软雅黑"/>
              </a:rPr>
              <a:t>设备管理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4C58"/>
                </a:solidFill>
                <a:latin typeface="微软雅黑"/>
              </a:rPr>
              <a:t>绑定、在线状态、轮询指令和执行回报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30752"/>
            <a:ext cx="5623560" cy="65836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30752"/>
            <a:ext cx="73152" cy="65836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67328"/>
            <a:ext cx="53492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E8C"/>
                </a:solidFill>
                <a:latin typeface="微软雅黑"/>
              </a:rPr>
              <a:t>语音交互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4C58"/>
                </a:solidFill>
                <a:latin typeface="微软雅黑"/>
              </a:rPr>
              <a:t>PCM 采集、ASR、模型回复、逐句 TTS 与设备回放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5623560" cy="65836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73152" cy="65836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517136"/>
            <a:ext cx="53492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E8C"/>
                </a:solidFill>
                <a:latin typeface="微软雅黑"/>
              </a:rPr>
              <a:t>会议与 Agent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4C58"/>
                </a:solidFill>
                <a:latin typeface="微软雅黑"/>
              </a:rPr>
              <a:t>会议文本与纪要入口，事件提醒与明确的远程决定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30368"/>
            <a:ext cx="5623560" cy="65836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30368"/>
            <a:ext cx="73152" cy="65836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266944"/>
            <a:ext cx="53492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E8C"/>
                </a:solidFill>
                <a:latin typeface="微软雅黑"/>
              </a:rPr>
              <a:t>多端接入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4C58"/>
                </a:solidFill>
                <a:latin typeface="微软雅黑"/>
              </a:rPr>
              <a:t>Web、Android WebView、Electron、微信小程序有源码</a:t>
            </a:r>
          </a:p>
        </p:txBody>
      </p:sp>
      <p:pic>
        <p:nvPicPr>
          <p:cNvPr id="25" name="Picture 24" descr="图1-系统功能结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81328"/>
            <a:ext cx="4892040" cy="1630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5080" y="3182112"/>
            <a:ext cx="4892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6B8"/>
                </a:solidFill>
                <a:latin typeface="微软雅黑"/>
              </a:rPr>
              <a:t>图1　系统功能结构图（基于当前工程整理）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520440"/>
            <a:ext cx="4892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B13A"/>
                </a:solidFill>
                <a:latin typeface="微软雅黑"/>
              </a:rPr>
              <a:t>工程特点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44C58"/>
                </a:solidFill>
                <a:latin typeface="微软雅黑"/>
              </a:rPr>
              <a:t>✓ 持久生成状态，限制旧请求覆盖新回复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44C58"/>
                </a:solidFill>
                <a:latin typeface="微软雅黑"/>
              </a:rPr>
              <a:t>✓ 设备密钥一次性展示，指令结果可追踪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44C58"/>
                </a:solidFill>
                <a:latin typeface="微软雅黑"/>
              </a:rPr>
              <a:t>✓ 同一业务层适配 Worker 和 Node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44C58"/>
                </a:solidFill>
                <a:latin typeface="微软雅黑"/>
              </a:rPr>
              <a:t>✓ 测试与历史真机证据分别记录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138928"/>
            <a:ext cx="48920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B13A"/>
                </a:solidFill>
                <a:latin typeface="微软雅黑"/>
              </a:rPr>
              <a:t>本次验证与边界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C58"/>
                </a:solidFill>
                <a:latin typeface="微软雅黑"/>
              </a:rPr>
              <a:t>类型检查、Web/Node 构建与99项本地测试通过。截图为演示数据，真实模型和真机未在本次复测。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8251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6B8"/>
                </a:solidFill>
                <a:latin typeface="微软雅黑"/>
              </a:rPr>
              <a:t>AIDesk  ·  毕业设计开题答辩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B13A"/>
                </a:solidFill>
                <a:latin typeface="微软雅黑"/>
              </a:rPr>
              <a:t>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9875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技术方案与进度安排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4E8C"/>
                </a:solidFill>
                <a:latin typeface="微软雅黑"/>
              </a:rP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54864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/>
            </a:r>
            <a:r>
              <a:rPr sz="1250">
                <a:solidFill>
                  <a:srgbClr val="444C58"/>
                </a:solidFill>
                <a:latin typeface="微软雅黑"/>
              </a:rPr>
              <a:t>● Web：React 19、TypeScript、Vite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/>
            </a:r>
            <a:r>
              <a:rPr sz="1250">
                <a:solidFill>
                  <a:srgbClr val="444C58"/>
                </a:solidFill>
                <a:latin typeface="微软雅黑"/>
              </a:rPr>
              <a:t>● API：Hono，Worker 与 Node 双运行形态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/>
            </a:r>
            <a:r>
              <a:rPr sz="1250">
                <a:solidFill>
                  <a:srgbClr val="444C58"/>
                </a:solidFill>
                <a:latin typeface="微软雅黑"/>
              </a:rPr>
              <a:t>● 数据：D1 或 SQLite，按 user_id 授权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/>
            </a:r>
            <a:r>
              <a:rPr sz="1250">
                <a:solidFill>
                  <a:srgbClr val="444C58"/>
                </a:solidFill>
                <a:latin typeface="微软雅黑"/>
              </a:rPr>
              <a:t>● 终端：Java WebView、Electron、原生小程序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/>
            </a:r>
            <a:r>
              <a:rPr sz="1250">
                <a:solidFill>
                  <a:srgbClr val="444C58"/>
                </a:solidFill>
                <a:latin typeface="微软雅黑"/>
              </a:rPr>
              <a:t>● 设备：ESP-IDF、FreeRTOS、robot_cloud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4E8C"/>
                </a:solidFill>
                <a:latin typeface="微软雅黑"/>
              </a:rPr>
              <a:t>关键方法与工程特点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87952"/>
            <a:ext cx="548640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token、lease 和条件更新支撑流式恢复。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一次性设备码、轮询和回执闭合控制链路。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ASR、模型与 TTS 在服务端统一编排。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44C58"/>
                </a:solidFill>
                <a:latin typeface="微软雅黑"/>
              </a:rPr>
              <a:t>● MCP 与自动声纹为规划，不计已完成。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4E8C"/>
                </a:solidFill>
                <a:latin typeface="微软雅黑"/>
              </a:rPr>
              <a:t>进度安排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536192"/>
          <a:ext cx="5029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2194560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50800" marR="50800" marT="25400" marB="25400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marL="50800" marR="50800" marT="25400" marB="25400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任务</a:t>
                      </a:r>
                    </a:p>
                  </a:txBody>
                  <a:tcPr marL="50800" marR="50800" marT="25400" marB="25400" anchor="ctr">
                    <a:solidFill>
                      <a:srgbClr val="142C52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① 工程基础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2026.10.13—16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控制台、设备、语音、多端和 Agent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② 本次整理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2026.10.23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构建、99项测试与成果包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③ 完善验收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日期待填写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持久化、跨端真机、会议真实链路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④ 扩展研究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日期待填写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MCP 权限与审计评估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⑤ 论文答辩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日期待填写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</a:rPr>
                        <a:t>按学校要求完善论文及答辩</a:t>
                      </a:r>
                    </a:p>
                  </a:txBody>
                  <a:tcPr marL="50800" marR="50800" marT="25400" marB="254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4617720"/>
            <a:ext cx="5029200" cy="12984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4E8C"/>
                </a:solidFill>
                <a:latin typeface="微软雅黑"/>
              </a:rPr>
              <a:t>现有成果与后续任务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44C58"/>
                </a:solidFill>
                <a:latin typeface="微软雅黑"/>
              </a:rPr>
              <a:t>✔ 当前本地测试99项通过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44C58"/>
                </a:solidFill>
                <a:latin typeface="微软雅黑"/>
              </a:rPr>
              <a:t>✔ 历史记录有设备与命令验收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44C58"/>
                </a:solidFill>
                <a:latin typeface="微软雅黑"/>
              </a:rPr>
              <a:t>待完成：持久化与跨端真机复测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B13A"/>
                </a:solidFill>
                <a:latin typeface="微软雅黑"/>
              </a:rPr>
              <a:t>成果：源码、空库启动包、需求与架构文档、原型、测试、PPT和报告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8251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6B8"/>
                </a:solidFill>
                <a:latin typeface="微软雅黑"/>
              </a:rPr>
              <a:t>AIDesk  ·  毕业设计开题答辩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B13A"/>
                </a:solidFill>
                <a:latin typeface="微软雅黑"/>
              </a:rPr>
              <a:t>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"/>
            <a:ext cx="9875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主要问题与解决思路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0607040" cy="102412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73152" cy="102412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43584"/>
            <a:ext cx="1024128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4E8C"/>
                </a:solidFill>
                <a:latin typeface="微软雅黑"/>
              </a:rPr>
              <a:t>01 流式状态恢复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444C58"/>
                </a:solidFill>
                <a:latin typeface="微软雅黑"/>
              </a:rPr>
              <a:t>问题　页面刷新和旧请求竞态会影响回复状态。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A35"/>
                </a:solidFill>
                <a:latin typeface="微软雅黑"/>
              </a:rPr>
              <a:t>解决　数据库状态、token 条件写入与租约收敛。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0607040" cy="102412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73152" cy="102412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86584"/>
            <a:ext cx="1024128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4E8C"/>
                </a:solidFill>
                <a:latin typeface="微软雅黑"/>
              </a:rPr>
              <a:t>02 设备语音弱网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444C58"/>
                </a:solidFill>
                <a:latin typeface="微软雅黑"/>
              </a:rPr>
              <a:t>问题　网络写阻塞可能损坏采集并造成卡顿。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A35"/>
                </a:solidFill>
                <a:latin typeface="微软雅黑"/>
              </a:rPr>
              <a:t>解决　整段上传为默认，观察墙钟、吞吐与队列日志。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0607040" cy="102412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73152" cy="102412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9584"/>
            <a:ext cx="1024128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4E8C"/>
                </a:solidFill>
                <a:latin typeface="微软雅黑"/>
              </a:rPr>
              <a:t>03 数据持久化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444C58"/>
                </a:solidFill>
                <a:latin typeface="微软雅黑"/>
              </a:rPr>
              <a:t>问题　现有云容器 SQLite 仍依赖快照和种子。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A35"/>
                </a:solidFill>
                <a:latin typeface="微软雅黑"/>
              </a:rPr>
              <a:t>解决　继续一键发布保护流程，另行实施持久库迁移。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10607040" cy="102412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17720"/>
            <a:ext cx="73152" cy="1024128"/>
          </a:xfrm>
          <a:prstGeom prst="rect">
            <a:avLst/>
          </a:prstGeom>
          <a:solidFill>
            <a:srgbClr val="E8B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72584"/>
            <a:ext cx="1024128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4E8C"/>
                </a:solidFill>
                <a:latin typeface="微软雅黑"/>
              </a:rPr>
              <a:t>04 跨端与真实验收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444C58"/>
                </a:solidFill>
                <a:latin typeface="微软雅黑"/>
              </a:rPr>
              <a:t>问题　本地测试不能替代模型服务和全部真机测试。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A35"/>
                </a:solidFill>
                <a:latin typeface="微软雅黑"/>
              </a:rPr>
              <a:t>解决　分层记录证据，优先补真实录音、通知及小程序验收。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607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B13A"/>
                </a:solidFill>
                <a:latin typeface="微软雅黑"/>
              </a:rPr>
              <a:t>敬请各位老师批评指正　　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待填写</cp:lastModifiedBy>
  <cp:revision>1</cp:revision>
  <dcterms:created xsi:type="dcterms:W3CDTF">2013-01-27T09:14:16Z</dcterms:created>
  <dcterms:modified xsi:type="dcterms:W3CDTF">2013-01-27T09:15:58Z</dcterms:modified>
  <cp:category/>
</cp:coreProperties>
</file>